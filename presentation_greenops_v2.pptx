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 GREENOPS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ressources IT, réduction des coûts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sobriété numérique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SNCF Connect &amp; Tech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276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665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2066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enjeux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505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505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PESTEL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44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SWOT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822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822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2611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4261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du besoin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188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GreenOps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6276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0665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066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505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5054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2944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944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risques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3832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Prévisionnel financier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822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822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2611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261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25603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71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numérique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cloud et données massives au cœur de la mobilité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560320" cy="25603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16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en hausse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2044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des coûts cloud, VM, stockage et exploitation IT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560320" cy="25603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environnemental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5508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des émissions GES mondiales liées au numérique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“Aujourd’hui, une grande partie des coûts IT provient de ressources inutilisées — c’est exactement ce que le GreenOps permet de corriger.”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SNCF Connect &amp; Tech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du groupe SNCF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et exploitation des services numériques de mobilité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SNCF Connect : millions d'utilisateurs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IT robuste, trafic temps réel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cloud, data, dev, cybersécurité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responsable de l'optimisation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Problématiques identifiées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cloud en augmentation continue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sous-utilisées ou surdimensionnées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DEV/TEST actifs 24h/24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et données sans stratégie de rétention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visibilité sur les coûts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Analyse PESTEL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1554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numériques responsables, plan France Relance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51560"/>
            <a:ext cx="73152" cy="1554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Hausse des coûts cloud +15-20%/an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51560"/>
            <a:ext cx="73152" cy="15544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Socioculturel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de services numériques durables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80360"/>
            <a:ext cx="73152" cy="1554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Technologique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automatisation, IaC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880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880360"/>
            <a:ext cx="73152" cy="1554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des émissions GES, sobriété numérique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880360"/>
            <a:ext cx="73152" cy="15544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RGPD, loi REEN, cybersécurité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Analyse SWOT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moderne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cloud/data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échelle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complexes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limitée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mal optimisées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840480" cy="16459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20-30% des coûts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améliorée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RSE renforcée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3840480" cy="16459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sur services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au changement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réglementaires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Problématique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188720"/>
            <a:ext cx="1097280" cy="1097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2468880"/>
            <a:ext cx="7315200" cy="146304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88720" y="26060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réduire l'empreinte environnementale et les coûts d'exploitation des environnements IT, tout en garantissant la disponibilité, la sécurité et la conformité 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Objectifs du projet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51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coûts IT de 20 à 30%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0" y="1051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l'utilisation des ressources (&gt;60%)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l'extinction hors heures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423160"/>
            <a:ext cx="411480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9496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gestion des données et logs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57600"/>
            <a:ext cx="411480" cy="411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 de suivi temps réel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57600"/>
            <a:ext cx="411480" cy="4114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39496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sécurité et conformité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Expression du besoin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97480" cy="32004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métier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coûts IT 20-30%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ressources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performances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Green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51560"/>
            <a:ext cx="2697480" cy="32004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techniques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automatisation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stockage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cloud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51560"/>
            <a:ext cx="2697480" cy="32004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143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600200"/>
            <a:ext cx="2423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accès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PROD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SI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Solution GreenOps – 4 Piliers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965960" cy="3291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6459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ressources, analyse coûts, identification gaspillage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0" y="1051560"/>
            <a:ext cx="1965960" cy="3291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51760" y="1143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64592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651760" y="27432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VM, nettoyage, rétention logs, archivage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051560"/>
            <a:ext cx="1965960" cy="3291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46320" y="1143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6459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46320" y="27432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extinction/démarrage, auto-scaling, alertes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49440" y="1051560"/>
            <a:ext cx="1965960" cy="32918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040880" y="11430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64592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377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27432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KPI, comité mensuel, formation,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 Architecture &amp; Fonctionnement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Azure / GCP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ressources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Terraform,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 extinction, rightsizing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Métriques et alertes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Centralisation, rétention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/ Power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temps réel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/ 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Conteneurs, auto-scaling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d'extinction automatique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3931920"/>
            <a:ext cx="1234440" cy="64008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39319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00200" y="39319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783080" y="3931920"/>
            <a:ext cx="1234440" cy="64008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783080" y="39319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017520" y="39319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3931920"/>
            <a:ext cx="1234440" cy="64008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00400" y="39319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434840" y="39319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17720" y="3931920"/>
            <a:ext cx="1234440" cy="6400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17720" y="39319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2160" y="39319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35040" y="3931920"/>
            <a:ext cx="1234440" cy="64008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35040" y="39319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69480" y="39319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452360" y="3931920"/>
            <a:ext cx="1234440" cy="64008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452360" y="393192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Redémarrage</a:t>
            </a:r>
            <a:endParaRPr lang="en-US" sz="900" dirty="0"/>
          </a:p>
        </p:txBody>
      </p:sp>
      <p:sp>
        <p:nvSpPr>
          <p:cNvPr id="30" name="SchemaLabel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100" b="1" dirty="0">
                <a:solidFill>
                  <a:srgbClr val="1B5E20"/>
                </a:solidFill>
                <a:latin typeface="Calibri" pitchFamily="34" charset="0"/>
              </a:rPr>
              <a:t>Flux de la solution GreenOps</a:t>
            </a:r>
          </a:p>
        </p:txBody>
      </p:sp>
      <p:sp>
        <p:nvSpPr>
          <p:cNvPr id="31" name="SchemaBox1"/>
          <p:cNvSpPr/>
          <p:nvPr/>
        </p:nvSpPr>
        <p:spPr>
          <a:xfrm>
            <a:off x="457200" y="4706400"/>
            <a:ext cx="1828800" cy="45720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FFFFFF"/>
                </a:solidFill>
                <a:latin typeface="Calibri" pitchFamily="34" charset="0"/>
              </a:rPr>
              <a:t>☁  CLOUD</a:t>
            </a:r>
          </a:p>
          <a:p>
            <a:pPr algn="ctr" indent="0" marL="0">
              <a:buNone/>
            </a:pPr>
            <a:r>
              <a:rPr lang="fr-FR" sz="800" dirty="0">
                <a:solidFill>
                  <a:srgbClr val="BBDEFB"/>
                </a:solidFill>
                <a:latin typeface="Calibri" pitchFamily="34" charset="0"/>
              </a:rPr>
              <a:t>AWS / Azure / GCP</a:t>
            </a:r>
          </a:p>
        </p:txBody>
      </p:sp>
      <p:sp>
        <p:nvSpPr>
          <p:cNvPr id="32" name="Arrow1"/>
          <p:cNvSpPr/>
          <p:nvPr/>
        </p:nvSpPr>
        <p:spPr>
          <a:xfrm>
            <a:off x="2377200" y="488964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600" b="1" dirty="0">
                <a:solidFill>
                  <a:srgbClr val="4CAF50"/>
                </a:solidFill>
                <a:latin typeface="Calibri" pitchFamily="34" charset="0"/>
              </a:rPr>
              <a:t>➡</a:t>
            </a:r>
          </a:p>
        </p:txBody>
      </p:sp>
      <p:sp>
        <p:nvSpPr>
          <p:cNvPr id="33" name="SchemaBox2"/>
          <p:cNvSpPr/>
          <p:nvPr/>
        </p:nvSpPr>
        <p:spPr>
          <a:xfrm>
            <a:off x="2926800" y="4706400"/>
            <a:ext cx="18288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FFFFFF"/>
                </a:solidFill>
                <a:latin typeface="Calibri" pitchFamily="34" charset="0"/>
              </a:rPr>
              <a:t>⚙  SCRIPTS</a:t>
            </a:r>
          </a:p>
          <a:p>
            <a:pPr algn="ctr" indent="0" marL="0">
              <a:buNone/>
            </a:pPr>
            <a:r>
              <a:rPr lang="fr-FR" sz="800" dirty="0">
                <a:solidFill>
                  <a:srgbClr val="C8E6C9"/>
                </a:solidFill>
                <a:latin typeface="Calibri" pitchFamily="34" charset="0"/>
              </a:rPr>
              <a:t>Python / Terraform</a:t>
            </a:r>
          </a:p>
        </p:txBody>
      </p:sp>
      <p:sp>
        <p:nvSpPr>
          <p:cNvPr id="34" name="Arrow2"/>
          <p:cNvSpPr/>
          <p:nvPr/>
        </p:nvSpPr>
        <p:spPr>
          <a:xfrm>
            <a:off x="4846800" y="488964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r-FR" sz="1600" b="1" dirty="0">
                <a:solidFill>
                  <a:srgbClr val="4CAF50"/>
                </a:solidFill>
                <a:latin typeface="Calibri" pitchFamily="34" charset="0"/>
              </a:rPr>
              <a:t>➡</a:t>
            </a:r>
          </a:p>
        </p:txBody>
      </p:sp>
      <p:sp>
        <p:nvSpPr>
          <p:cNvPr id="35" name="SchemaBox3"/>
          <p:cNvSpPr/>
          <p:nvPr/>
        </p:nvSpPr>
        <p:spPr>
          <a:xfrm>
            <a:off x="5395200" y="4706400"/>
            <a:ext cx="1828800" cy="457200"/>
          </a:xfrm>
          <a:prstGeom prst="roundRect">
            <a:avLst/>
          </a:prstGeom>
          <a:solidFill>
            <a:srgbClr val="F57F17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 indent="0" marL="0">
              <a:buNone/>
            </a:pPr>
            <a:r>
              <a:rPr lang="fr-FR" sz="1000" b="1" dirty="0">
                <a:solidFill>
                  <a:srgbClr val="FFFFFF"/>
                </a:solidFill>
                <a:latin typeface="Calibri" pitchFamily="34" charset="0"/>
              </a:rPr>
              <a:t>📊  DASHBOARD</a:t>
            </a:r>
          </a:p>
          <a:p>
            <a:pPr algn="ctr" indent="0" marL="0">
              <a:buNone/>
            </a:pPr>
            <a:r>
              <a:rPr lang="fr-FR" sz="800" dirty="0">
                <a:solidFill>
                  <a:srgbClr val="FFF9C4"/>
                </a:solidFill>
                <a:latin typeface="Calibri" pitchFamily="34" charset="0"/>
              </a:rPr>
              <a:t>Grafana / Power BI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Cybersécurité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5544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1554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privilège, MFA, RBAC, revue trimestrielle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15544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73152" cy="1554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VPC/VNET, firewall, TLS 1.3, segmentation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840480" cy="1554480"/>
          </a:xfrm>
          <a:prstGeom prst="rect">
            <a:avLst/>
          </a:prstGeom>
          <a:solidFill>
            <a:srgbClr val="F3E5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80360"/>
            <a:ext cx="73152" cy="15544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sécurité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SIEM, détection anomalies, audit trail complet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840480" cy="15544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73152" cy="1554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Sauvegardes, tests mensuels, RTO &lt;4h, RPO &lt;1h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Gestion de projet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Agile (Scrum) + cadre séquentiel pour les phases structurantes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554480" cy="11887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S1-S4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4630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4242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1463040"/>
            <a:ext cx="1554480" cy="118872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S5-S10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4630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424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1463040"/>
            <a:ext cx="1554480" cy="118872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S11-S16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4630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4242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554480" cy="1188720"/>
          </a:xfrm>
          <a:prstGeom prst="rect">
            <a:avLst/>
          </a:prstGeom>
          <a:solidFill>
            <a:srgbClr val="6A1B9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S17-S20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1463040"/>
            <a:ext cx="182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4242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1463040"/>
            <a:ext cx="1554480" cy="118872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continu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RACI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463040"/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Éq.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de projet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 Analyse des risques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3840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Indisponibilité PROD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Exceptions, tests, rollback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Résistance au changement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Communication, 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 de données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Sauvegarde, PRA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Dépassement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mensuel, alertes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Incompatibilité 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POC, tests intégration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Non-conformité RGPD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Audit, validation juridique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Défaillance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auto,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RiskExTitle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fr-FR" sz="1200" b="1" dirty="0">
                <a:solidFill>
                  <a:srgbClr val="1B5E20"/>
                </a:solidFill>
                <a:latin typeface="Calibri" pitchFamily="34" charset="0"/>
              </a:rPr>
              <a:t>📌 Exemples concrets de risques &amp; solutions</a:t>
            </a:r>
          </a:p>
        </p:txBody>
      </p:sp>
      <p:sp>
        <p:nvSpPr>
          <p:cNvPr id="51" name="RiskEx1"/>
          <p:cNvSpPr/>
          <p:nvPr/>
        </p:nvSpPr>
        <p:spPr>
          <a:xfrm>
            <a:off x="457200" y="4206480"/>
            <a:ext cx="3932400" cy="13716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6F00"/>
            </a:solidFill>
          </a:ln>
        </p:spPr>
        <p:txBody>
          <a:bodyPr wrap="square" lIns="114300" tIns="91440" rIns="114300" bIns="91440" rtlCol="0" anchor="t"/>
          <a:lstStyle/>
          <a:p>
            <a:pPr indent="0" marL="0">
              <a:buNone/>
            </a:pPr>
            <a:r>
              <a:rPr lang="fr-FR" sz="1000" b="1" dirty="0">
                <a:solidFill>
                  <a:srgbClr val="E65100"/>
                </a:solidFill>
                <a:latin typeface="Calibri" pitchFamily="34" charset="0"/>
              </a:rPr>
              <a:t>⚠ Risque : Script d’extinction mal configuré</a:t>
            </a:r>
          </a:p>
          <a:p>
            <a:pPr indent="0" marL="0">
              <a:buNone/>
            </a:pPr>
            <a:r>
              <a:rPr lang="fr-FR" sz="900" dirty="0">
                <a:solidFill>
                  <a:srgbClr val="424242"/>
                </a:solidFill>
                <a:latin typeface="Calibri" pitchFamily="34" charset="0"/>
              </a:rPr>
              <a:t>Situation : un script éteint un env. TEST contenant une migration active en soirée → perte de données temporaires, blocage équipe dev le lendemain.</a:t>
            </a:r>
          </a:p>
          <a:p>
            <a:pPr indent="0" marL="0">
              <a:buNone/>
            </a:pPr>
            <a:r>
              <a:rPr lang="fr-FR" sz="900" b="1" dirty="0">
                <a:solidFill>
                  <a:srgbClr val="2E7D32"/>
                </a:solidFill>
                <a:latin typeface="Calibri" pitchFamily="34" charset="0"/>
              </a:rPr>
              <a:t>✔ Solution : liste d’exceptions + notification Slack 30 min avant extinction + rollback automatique.</a:t>
            </a:r>
          </a:p>
        </p:txBody>
      </p:sp>
      <p:sp>
        <p:nvSpPr>
          <p:cNvPr id="52" name="RiskEx2"/>
          <p:cNvSpPr/>
          <p:nvPr/>
        </p:nvSpPr>
        <p:spPr>
          <a:xfrm>
            <a:off x="4754400" y="4206480"/>
            <a:ext cx="3932400" cy="1371600"/>
          </a:xfrm>
          <a:prstGeom prst="roundRect">
            <a:avLst/>
          </a:prstGeom>
          <a:solidFill>
            <a:srgbClr val="FCE4EC"/>
          </a:solidFill>
          <a:ln w="12700">
            <a:solidFill>
              <a:srgbClr val="AD1457"/>
            </a:solidFill>
          </a:ln>
        </p:spPr>
        <p:txBody>
          <a:bodyPr wrap="square" lIns="114300" tIns="91440" rIns="114300" bIns="91440" rtlCol="0" anchor="t"/>
          <a:lstStyle/>
          <a:p>
            <a:pPr indent="0" marL="0">
              <a:buNone/>
            </a:pPr>
            <a:r>
              <a:rPr lang="fr-FR" sz="1000" b="1" dirty="0">
                <a:solidFill>
                  <a:srgbClr val="AD1457"/>
                </a:solidFill>
                <a:latin typeface="Calibri" pitchFamily="34" charset="0"/>
              </a:rPr>
              <a:t>⚠ Risque : Purge logs non conforme RGPD</a:t>
            </a:r>
          </a:p>
          <a:p>
            <a:pPr indent="0" marL="0">
              <a:buNone/>
            </a:pPr>
            <a:r>
              <a:rPr lang="fr-FR" sz="900" dirty="0">
                <a:solidFill>
                  <a:srgbClr val="424242"/>
                </a:solidFill>
                <a:latin typeface="Calibri" pitchFamily="34" charset="0"/>
              </a:rPr>
              <a:t>Situation : une politique de rétention trop agressive supprime des logs contenant des données personnelles avant le délai légal → exposition réglementaire, amende potentielle.</a:t>
            </a:r>
          </a:p>
          <a:p>
            <a:pPr indent="0" marL="0">
              <a:buNone/>
            </a:pPr>
            <a:r>
              <a:rPr lang="fr-FR" sz="900" b="1" dirty="0">
                <a:solidFill>
                  <a:srgbClr val="2E7D32"/>
                </a:solidFill>
                <a:latin typeface="Calibri" pitchFamily="34" charset="0"/>
              </a:rPr>
              <a:t>✔ Solution : audit RGPD préalable, politique de rétention validée par le DPO, séparation logs techniques / logs personnels.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 Prévisionnel financier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852160" y="1005840"/>
            <a:ext cx="292608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24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50 000 €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1783080"/>
            <a:ext cx="292608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75 000 €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annuels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560320"/>
            <a:ext cx="292608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2578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4360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à 1 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337560"/>
            <a:ext cx="292608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3355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mois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94360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 KPI – Indicateurs de suivi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23160"/>
                <a:gridCol w="2423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cloud mensuel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actuelle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utilisation 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35-40%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stockage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actuelle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logs/jour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actuelle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PROD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Env. éteints/nuit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&gt;80% DEV/TEST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Empreinte carbone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mesurer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926080"/>
          </a:xfrm>
          <a:prstGeom prst="rect">
            <a:avLst/>
          </a:prstGeom>
          <a:solidFill>
            <a:srgbClr val="2A2A4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423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75 000€/an d'économies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empreinte carbone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renforcée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51560"/>
            <a:ext cx="2651760" cy="2926080"/>
          </a:xfrm>
          <a:prstGeom prst="rect">
            <a:avLst/>
          </a:prstGeom>
          <a:solidFill>
            <a:srgbClr val="2A2A4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51560"/>
            <a:ext cx="2651760" cy="54864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801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74720" y="2423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au changement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technique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initial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51560"/>
            <a:ext cx="2651760" cy="2926080"/>
          </a:xfrm>
          <a:prstGeom prst="rect">
            <a:avLst/>
          </a:prstGeom>
          <a:solidFill>
            <a:srgbClr val="2A2A4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2423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groupe SNCF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Coding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GreenOps : Performance économique, excellence opérationnelle, responsabilité environnementale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GreenOps – SNCF Connect &amp; 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GreenOps - SNCF Connect &amp; Tech</dc:title>
  <dc:subject>PptxGenJS Presentation</dc:subject>
  <dc:creator>GreenOps Team</dc:creator>
  <cp:lastModifiedBy>GreenOps Team</cp:lastModifiedBy>
  <cp:revision>1</cp:revision>
  <dcterms:created xsi:type="dcterms:W3CDTF">2026-04-21T05:30:12Z</dcterms:created>
  <dcterms:modified xsi:type="dcterms:W3CDTF">2026-04-21T05:30:12Z</dcterms:modified>
</cp:coreProperties>
</file>