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Investissement
initial</c:v>
                </c:pt>
                <c:pt idx="1">
                  <c:v>Gains
Année 1</c:v>
                </c:pt>
                <c:pt idx="2">
                  <c:v>Gains
Année 2</c:v>
                </c:pt>
                <c:pt idx="3">
                  <c:v>Gains
Année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68200</c:v>
                </c:pt>
                <c:pt idx="1">
                  <c:v>105000</c:v>
                </c:pt>
                <c:pt idx="2">
                  <c:v>105000</c:v>
                </c:pt>
                <c:pt idx="3">
                  <c:v>105000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12-664C-A25B-07404BF3B5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B1120"/>
    </a:solidFill>
    <a:ln w="12700" cap="flat">
      <a:solidFill>
        <a:srgbClr val="1E293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99E3E-619A-394B-8A13-7BBC350A409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D0070-499A-5341-9FCA-686FFD8F0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21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GREENOPS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474720" y="2542032"/>
            <a:ext cx="219456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743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ressources IT, réduction des coûts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sobriété numérique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 SylvaOps Consulting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 SNCF Connect &amp; Tech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4297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 –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entreprise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équipe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659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65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31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974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290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du besoin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1605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1605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GreenOps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262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8686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8686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12344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2344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5780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global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16002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16002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5780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19659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1965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d'application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3317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2331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578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26974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26974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5780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attendus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0632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063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5780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34290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34290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5780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37947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7947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5780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41605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5" name="Text 63"/>
          <p:cNvSpPr/>
          <p:nvPr/>
        </p:nvSpPr>
        <p:spPr>
          <a:xfrm>
            <a:off x="4846320" y="41605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5780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4630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cloud, données massives,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temps réel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17880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6304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coûts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+15-20%/an,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stockage, licences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Shape 16"/>
          <p:cNvSpPr/>
          <p:nvPr/>
        </p:nvSpPr>
        <p:spPr>
          <a:xfrm>
            <a:off x="710488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46304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des émissions 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mondiales liées au numérique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SylvaOps Consulting accompagne SNCF Connect &amp; Tech vers la sobriété numérique.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SylvaOps Consulting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conseil spécialisé en optimisation IT &amp; sobriété numérique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accompagnons les DSI dans la réduction des coûts cloud et de l'empreinte carbone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10312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 IT de nos clients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diminuant leur empreinte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 numérique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27832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210312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64992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5 étapes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→ Identification → Optimisation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Automatisation → Pilotage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9904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9904" y="2103120"/>
            <a:ext cx="2697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résultats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27064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 à 30% sur les coûts cloud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moyen de 8 mois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CO2 mesurable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0352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65760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965960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19659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801368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401568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6"/>
          <p:cNvSpPr/>
          <p:nvPr/>
        </p:nvSpPr>
        <p:spPr>
          <a:xfrm>
            <a:off x="3401568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236976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837176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29"/>
          <p:cNvSpPr/>
          <p:nvPr/>
        </p:nvSpPr>
        <p:spPr>
          <a:xfrm>
            <a:off x="4837176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672584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272784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6272784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08192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7708392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543800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0574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2801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Kenza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MOUNGAT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651760"/>
            <a:ext cx="914400" cy="137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Cheffe de projet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Consultante GreenOps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004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global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client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roadmap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comités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6888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68880" y="914400"/>
            <a:ext cx="2057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03580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28016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Thiziri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AMMOUR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17520" y="2651760"/>
            <a:ext cx="914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6"/>
          <p:cNvSpPr/>
          <p:nvPr/>
        </p:nvSpPr>
        <p:spPr>
          <a:xfrm>
            <a:off x="251460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Consultante Cloud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Automatisation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56032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infrastructure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automatisation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VM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70916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3" name="Shape 19"/>
          <p:cNvSpPr/>
          <p:nvPr/>
        </p:nvSpPr>
        <p:spPr>
          <a:xfrm>
            <a:off x="4709160" y="914400"/>
            <a:ext cx="2057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Shape 20"/>
          <p:cNvSpPr/>
          <p:nvPr/>
        </p:nvSpPr>
        <p:spPr>
          <a:xfrm>
            <a:off x="527608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640080" cy="6400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548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257800" y="2651760"/>
            <a:ext cx="914400" cy="137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Monitoring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0060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logs (ELK)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métriques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rétention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94944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949440" y="914400"/>
            <a:ext cx="20574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27"/>
          <p:cNvSpPr/>
          <p:nvPr/>
        </p:nvSpPr>
        <p:spPr>
          <a:xfrm>
            <a:off x="751636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1280160"/>
            <a:ext cx="640080" cy="6400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9516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498080" y="2651760"/>
            <a:ext cx="914400" cy="13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0"/>
          <p:cNvSpPr/>
          <p:nvPr/>
        </p:nvSpPr>
        <p:spPr>
          <a:xfrm>
            <a:off x="699516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Cyber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Conformité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04088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RBAC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reprise (PRA)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risques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SNCF Connect &amp; Tech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77640" cy="13258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5720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5156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612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SNCF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groupe ferroviaire européen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voyageurs/jour · 270 000 collaborateurs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914400"/>
            <a:ext cx="3977640" cy="13258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914400"/>
            <a:ext cx="45720" cy="1325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3480" y="1051560"/>
            <a:ext cx="685800" cy="6858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1612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SNCF Connect &amp; Tech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0644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numérique du groupe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collaborateurs · App SNCF Connect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2514600"/>
            <a:ext cx="3977640" cy="21945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514600"/>
            <a:ext cx="39776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2971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multi-provider (AWS, Azure, GCP)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conteneurs Docker / Kubernetes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DEV / TEST / PROD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: ELK, Prometheus, Grafana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00600" y="2514600"/>
            <a:ext cx="3977640" cy="21945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2514600"/>
            <a:ext cx="3977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498348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IT identifiés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83480" y="2971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en hausse continue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sous-utilisées / surdimensionnées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sans stratégie de rétention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visibilité sur les coûts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et enjeux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5720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9844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numérique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requêtes/jour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de charge, temps réel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60120"/>
            <a:ext cx="45720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1887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29844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6072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cloud +15-20%/an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sous pression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71800"/>
            <a:ext cx="45720" cy="1737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1012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GES mondiales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REEN, sobriété numérique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971800"/>
            <a:ext cx="45720" cy="1737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31012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607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76072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parties prenantes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reporting extra-financier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PESTEL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097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responsable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France Relance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européennes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097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+15-20%/an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IT stratégique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sur les marges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0972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durables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employeur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marque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1546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IaC, K8s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avancée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154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2336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GES mondiales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Sobriété numérique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9718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31546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4944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 / 50001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SWOT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06908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77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069080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777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4069080" cy="1691640"/>
          </a:xfrm>
          <a:prstGeom prst="rect">
            <a:avLst/>
          </a:prstGeom>
          <a:solidFill>
            <a:srgbClr val="0D2818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78992"/>
            <a:ext cx="4069080" cy="3657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536192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moderne &amp; scalable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cloud et data avancée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grande échelle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techniques qualifiées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078992"/>
            <a:ext cx="4069080" cy="1691640"/>
          </a:xfrm>
          <a:prstGeom prst="rect">
            <a:avLst/>
          </a:prstGeom>
          <a:solidFill>
            <a:srgbClr val="2A1215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078992"/>
            <a:ext cx="4069080" cy="3657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1536192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environnements multi-cloud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IT limitée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Surdimensionnement des ressources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politique rétention logs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2834640"/>
            <a:ext cx="4069080" cy="1691640"/>
          </a:xfrm>
          <a:prstGeom prst="rect">
            <a:avLst/>
          </a:prstGeom>
          <a:solidFill>
            <a:srgbClr val="0C1A30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834640"/>
            <a:ext cx="4069080" cy="3657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9864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772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329184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20-30% des coûts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 améliorée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RSE renforcée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 anticipée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9160" y="2834640"/>
            <a:ext cx="4069080" cy="1691640"/>
          </a:xfrm>
          <a:prstGeom prst="rect">
            <a:avLst/>
          </a:prstGeom>
          <a:solidFill>
            <a:srgbClr val="2A2008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2834640"/>
            <a:ext cx="4069080" cy="365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89864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892040" y="329184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la disponibilité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 évolutives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fournisseurs cloud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2468880"/>
            <a:ext cx="7680960" cy="1463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réduire l'empreinte environnementale et les coûts d'exploitation des environnements IT, tout en garantissant la disponibilité, la sécurité et la conformité 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 du besoin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métier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coûts IT 20-30%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sur les ressources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optimisée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Green IT / 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automatique DEV/TEST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DEV/TEST/PROD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logs, alertes seuils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 GreenOps — 5 étapes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24328"/>
            <a:ext cx="786384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317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150876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Inventaire, coûts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051560" y="2212848"/>
            <a:ext cx="18288" cy="118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2"/>
          <p:cNvSpPr/>
          <p:nvPr/>
        </p:nvSpPr>
        <p:spPr>
          <a:xfrm>
            <a:off x="2560320" y="23317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25603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10312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103120" y="1005840"/>
            <a:ext cx="1508760" cy="36576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9728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0312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10312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gaspillages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2834640" y="2212848"/>
            <a:ext cx="18288" cy="1188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19"/>
          <p:cNvSpPr/>
          <p:nvPr/>
        </p:nvSpPr>
        <p:spPr>
          <a:xfrm>
            <a:off x="4343400" y="2331720"/>
            <a:ext cx="594360" cy="5943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0"/>
          <p:cNvSpPr/>
          <p:nvPr/>
        </p:nvSpPr>
        <p:spPr>
          <a:xfrm>
            <a:off x="43434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88620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86200" y="1005840"/>
            <a:ext cx="1508760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9728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8620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8862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nettoyage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logs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4617720" y="2212848"/>
            <a:ext cx="18288" cy="1188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Shape 26"/>
          <p:cNvSpPr/>
          <p:nvPr/>
        </p:nvSpPr>
        <p:spPr>
          <a:xfrm>
            <a:off x="6126480" y="2331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7"/>
          <p:cNvSpPr/>
          <p:nvPr/>
        </p:nvSpPr>
        <p:spPr>
          <a:xfrm>
            <a:off x="61264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566928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669280" y="1005840"/>
            <a:ext cx="1508760" cy="3657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09728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6928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66928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auto-scaling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6400800" y="2212848"/>
            <a:ext cx="1828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Shape 33"/>
          <p:cNvSpPr/>
          <p:nvPr/>
        </p:nvSpPr>
        <p:spPr>
          <a:xfrm>
            <a:off x="7909560" y="2331720"/>
            <a:ext cx="594360" cy="5943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0" name="Text 34"/>
          <p:cNvSpPr/>
          <p:nvPr/>
        </p:nvSpPr>
        <p:spPr>
          <a:xfrm>
            <a:off x="790956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745236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452360" y="1005840"/>
            <a:ext cx="1508760" cy="36576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097280"/>
            <a:ext cx="502920" cy="5029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5236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745236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comité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700" dirty="0"/>
          </a:p>
        </p:txBody>
      </p:sp>
      <p:sp>
        <p:nvSpPr>
          <p:cNvPr id="46" name="Shape 39"/>
          <p:cNvSpPr/>
          <p:nvPr/>
        </p:nvSpPr>
        <p:spPr>
          <a:xfrm>
            <a:off x="8183880" y="2212848"/>
            <a:ext cx="18288" cy="118872"/>
          </a:xfrm>
          <a:prstGeom prst="rect">
            <a:avLst/>
          </a:prstGeom>
          <a:solidFill>
            <a:srgbClr val="A855F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Cibles de la démarche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Rightsizing, extinction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Extinction auto 20h-8h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Nettoyage, archivage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Rétention, purge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Fonctionnement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/ GCP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VM, conteneurs, stockage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Terraform,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Extinction, rightsizing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Métriques, alertes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Rétention, purge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/ 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temps réel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/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657600"/>
            <a:ext cx="4572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&gt; 99,5%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27832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3657600"/>
            <a:ext cx="4572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410712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6" name="Text 12"/>
          <p:cNvSpPr/>
          <p:nvPr/>
        </p:nvSpPr>
        <p:spPr>
          <a:xfrm>
            <a:off x="3410712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MFA, RBAC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89904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9904" y="365760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272784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72784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chiffrement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Processus global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3840480" cy="457200"/>
          </a:xfrm>
          <a:prstGeom prst="rect">
            <a:avLst/>
          </a:prstGeom>
          <a:solidFill>
            <a:srgbClr val="4CAF50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3840480" cy="45720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36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USAGES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157984"/>
            <a:ext cx="3840480" cy="457200"/>
          </a:xfrm>
          <a:prstGeom prst="rect">
            <a:avLst/>
          </a:prstGeom>
          <a:solidFill>
            <a:srgbClr val="F97316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157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GASPILLAGES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5694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779776"/>
            <a:ext cx="3840480" cy="457200"/>
          </a:xfrm>
          <a:prstGeom prst="rect">
            <a:avLst/>
          </a:prstGeom>
          <a:solidFill>
            <a:srgbClr val="2E7D32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779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(GreenOps)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1912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3840480" cy="457200"/>
          </a:xfrm>
          <a:prstGeom prst="rect">
            <a:avLst/>
          </a:prstGeom>
          <a:solidFill>
            <a:srgbClr val="A855F7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8130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023360"/>
            <a:ext cx="3840480" cy="457200"/>
          </a:xfrm>
          <a:prstGeom prst="rect">
            <a:avLst/>
          </a:prstGeom>
          <a:solidFill>
            <a:srgbClr val="EF4444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COÛTS &amp; CO2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914400"/>
            <a:ext cx="3474720" cy="37490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914400"/>
            <a:ext cx="3474720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continue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0" y="22860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itération affine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l'optimisation.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alimentent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des usages pour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amélioration permanente.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déploiement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822960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1097280" cy="114300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167128"/>
            <a:ext cx="18288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2331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2971800"/>
            <a:ext cx="1097280" cy="1143000"/>
          </a:xfrm>
          <a:prstGeom prst="rect">
            <a:avLst/>
          </a:prstGeom>
          <a:solidFill>
            <a:srgbClr val="14B8A6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04288" y="2834640"/>
            <a:ext cx="18288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33172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1097280" cy="1143000"/>
          </a:xfrm>
          <a:prstGeom prst="rect">
            <a:avLst/>
          </a:prstGeom>
          <a:solidFill>
            <a:srgbClr val="4CAF50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S9-S14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21608" y="2167128"/>
            <a:ext cx="18288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3317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2971800"/>
            <a:ext cx="1097280" cy="1143000"/>
          </a:xfrm>
          <a:prstGeom prst="rect">
            <a:avLst/>
          </a:prstGeom>
          <a:solidFill>
            <a:srgbClr val="F97316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S15-S20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38928" y="2834640"/>
            <a:ext cx="18288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1005840"/>
            <a:ext cx="1097280" cy="1143000"/>
          </a:xfrm>
          <a:prstGeom prst="rect">
            <a:avLst/>
          </a:prstGeom>
          <a:solidFill>
            <a:srgbClr val="A855F7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S21-S24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56248" y="2167128"/>
            <a:ext cx="18288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7726680" y="233172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52360" y="2971800"/>
            <a:ext cx="1097280" cy="1143000"/>
          </a:xfrm>
          <a:prstGeom prst="rect">
            <a:avLst/>
          </a:prstGeom>
          <a:solidFill>
            <a:srgbClr val="1B5E20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523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continu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S25+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973568" y="2834640"/>
            <a:ext cx="18288" cy="1371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4343400"/>
            <a:ext cx="4572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9184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91840" y="4343400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342900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2900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mois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1792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4343400"/>
            <a:ext cx="45720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5508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mois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d'application — SNCF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32918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réalistes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VM (60 DEV, 40 TEST, 50 PROD)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VM : 200€/mois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: 50 To (30% données froides)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: 500 Go/jour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cloud : ~500 000€/an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2918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02336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estimés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DEV/TEST : 144 000€/an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VM : 37 800€/an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optimisé : 10 000€/an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réduits : 8 000€/an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200 000 €/an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d'économies potentielles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d'expérience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européenne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–35% coûts cloud (1,2M€)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envts éteints hors heures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–25% empreinte carbone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français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40% instances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→ Glacier (–60%)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5 mois, 400k€/an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clé : commencer par un pilote, les quick wins génèrent l'adhésion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attendus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371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financiers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–20-30% coûts cloud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100-200k€/an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6-10 mois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413308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–20-30% consommation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RSE atteints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loi REEN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0584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5916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3716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5508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VM &gt;60%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temps réel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GreenOps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— Indicateurs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Logs/jour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 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Envts éteints/nuit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Empreinte CO2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mesurer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risques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Exceptions, rollback 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Résistance changement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Formation, 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Sauvegarde, 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mensuel, alertes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Incompatibilité 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POC, tests intégration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juridique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Défaillance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auto,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Prévisionnel financier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0584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05840"/>
            <a:ext cx="4572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68 200 €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852160" y="1389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78308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78308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105 000 €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85216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annuels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56032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56032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852160" y="2944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à 1 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33756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337560"/>
            <a:ext cx="457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mois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852160" y="3721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234440"/>
            <a:ext cx="822960" cy="8229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371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105 000€/an d'économies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empreinte CO2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renforcée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133088" y="12344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3756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technique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0584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59168" y="12344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3716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groupe SNCF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Coding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SylvaOps Consulting · Performance économique · Excellence opérationnelle · Responsabilité environnementale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058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840480" y="3108960"/>
            <a:ext cx="1463040" cy="2743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SylvaOps Consulting · Projet GreenOps · SNCF Connect &amp; Tech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24</Slides>
  <Notes>24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GreenOps</dc:title>
  <dc:subject>PptxGenJS Presentation</dc:subject>
  <dc:creator>SylvaOps Consulting</dc:creator>
  <cp:lastModifiedBy>KENZA MOUNGAD</cp:lastModifiedBy>
  <cp:revision>2</cp:revision>
  <dcterms:created xsi:type="dcterms:W3CDTF">2026-04-23T10:42:33Z</dcterms:created>
  <dcterms:modified xsi:type="dcterms:W3CDTF">2026-04-23T10:48:04Z</dcterms:modified>
</cp:coreProperties>
</file>